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2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y="5143500" cx="9144000"/>
  <p:notesSz cx="6858000" cy="9144000"/>
  <p:embeddedFontLst>
    <p:embeddedFont>
      <p:font typeface="Poppins"/>
      <p:regular r:id="rId15"/>
      <p:bold r:id="rId16"/>
      <p:italic r:id="rId17"/>
      <p:boldItalic r:id="rId1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23914065-8745-4373-A671-5997EFD5C260}">
  <a:tblStyle styleId="{23914065-8745-4373-A671-5997EFD5C260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font" Target="fonts/Poppins-regular.fntdata"/><Relationship Id="rId14" Type="http://schemas.openxmlformats.org/officeDocument/2006/relationships/slide" Target="slides/slide8.xml"/><Relationship Id="rId17" Type="http://schemas.openxmlformats.org/officeDocument/2006/relationships/font" Target="fonts/Poppins-italic.fntdata"/><Relationship Id="rId16" Type="http://schemas.openxmlformats.org/officeDocument/2006/relationships/font" Target="fonts/Poppins-bold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8" Type="http://schemas.openxmlformats.org/officeDocument/2006/relationships/font" Target="fonts/Poppins-boldItalic.fntdata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ef51e87b99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ef51e87b99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I’ve written a book for kids in tech. It’s titled “A Kid’s Guide To Change The World”.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During the editing phase, I asked someone to review the book. She was quite occupied, so she suggested that I used ChatGPT.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It was a good suggestion, but I declined to follow through why?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The problem was not data privacy or data assimilation. My problem was trust.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LLMs are typically sycophantic. So how can you really trust what they say?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And when they make corrections, the corrections can be unending, unless you provide clear guidelines. But even then, it can yap a lot about unnecessary details.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So how can you trust a talkative?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Or when your child asks Gemini a math question, how can you ensure they don’t get an F in their assignment?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Or how can you trust it to tell you about current stock prices, and not mistake that query as an inventory request.</a:t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fb375bf1bb_1_1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fb375bf1bb_1_1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Like I said, foundation models are incredibly good at sounding intelligent.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That’s what makes them both powerful and dangerous.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An AI assistant can confidently provide a completely incorrect answer, fabricate information, or follow instructions it should ignore, while still sounding convincing.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And when we embed these models into enterprise applications, or internal knowledge assistants, the impact becomes much larger.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The challenge is that many users naturally associate confidence with reliability. Yesterday, I explained about highschoolers who were developing a solution and said they “asked AI”. They did no verification beyond what the model fed them.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And you see, unlike traditional systems that fail visibly (like a windows error pop-up), LLMs can fail invisibly.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trike="sngStrike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trike="sngStrike">
                <a:solidFill>
                  <a:schemeClr val="dk1"/>
                </a:solidFill>
              </a:rPr>
              <a:t>So this behavior should change how we think about software quality, testing, and trust.</a:t>
            </a:r>
            <a:endParaRPr strike="sngStrike"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3ef51e87b99_0_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3ef51e87b99_0_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Like I said, f</a:t>
            </a:r>
            <a:r>
              <a:rPr lang="en">
                <a:solidFill>
                  <a:schemeClr val="dk1"/>
                </a:solidFill>
              </a:rPr>
              <a:t>oundation models are incredibly good at sounding intelligent.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That’s what makes them both powerful and dangerous.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An AI assistant can confidently provide a completely incorrect answer, fabricate information, or follow instructions it should ignore, while still sounding convincing.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And when we embed these models into enterprise applications, or internal knowledge assistants, the impact becomes much larger.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The challenge is that many users naturally associate confidence with reliability. Yesterday, I explained about highschoolers who were developing a solution and said they “asked AI”. They did no verification beyond what the model fed them.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And you see, unlike traditional systems that fail visibly (like a windows error pop-up), LLMs can fail invisibly.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trike="sngStrike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trike="sngStrike">
                <a:solidFill>
                  <a:schemeClr val="dk1"/>
                </a:solidFill>
              </a:rPr>
              <a:t>So this behavior should change how we think about software quality, testing, and trust.</a:t>
            </a:r>
            <a:endParaRPr strike="sngStrike"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fb375bf1bb_1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fb375bf1bb_1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Like I said, foundation models are incredibly good at sounding intelligent.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That’s what makes them both powerful and dangerous.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An AI assistant can confidently provide a completely incorrect answer, fabricate information, or follow instructions it should ignore, while still sounding convincing.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And when we embed these models into enterprise applications, or internal knowledge assistants, the impact becomes much larger.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The challenge is that many users naturally associate confidence with reliability. Yesterday, I explained about highschoolers who were developing a solution and said they “asked AI”. They did no verification beyond what the model fed them.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And you see, unlike traditional systems that fail visibly (like a windows error pop-up), LLMs can fail invisibly.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trike="sngStrike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trike="sngStrike">
                <a:solidFill>
                  <a:schemeClr val="dk1"/>
                </a:solidFill>
              </a:rPr>
              <a:t>So this behavior should change how we think about software quality, testing, and trust.</a:t>
            </a:r>
            <a:endParaRPr strike="sngStrike"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fb375bf1bb_1_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3fb375bf1bb_1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Like I said, foundation models are incredibly good at sounding intelligent.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That’s what makes them both powerful and dangerous.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An AI assistant can confidently provide a completely incorrect answer, fabricate information, or follow instructions it should ignore, while still sounding convincing.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And when we embed these models into enterprise applications, or internal knowledge assistants, the impact becomes much larger.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The challenge is that many users naturally associate confidence with reliability. Yesterday, I explained about highschoolers who were developing a solution and said they “asked AI”. They did no verification beyond what the model fed them.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And you see, unlike traditional systems that fail visibly (like a windows error pop-up), LLMs can fail invisibly.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trike="sngStrike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trike="sngStrike">
                <a:solidFill>
                  <a:schemeClr val="dk1"/>
                </a:solidFill>
              </a:rPr>
              <a:t>So this behavior should change how we think about software quality, testing, and trust.</a:t>
            </a:r>
            <a:endParaRPr strike="sngStrike"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fb375bf1bb_1_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3fb375bf1bb_1_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Like I said, foundation models are incredibly good at sounding intelligent.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That’s what makes them both powerful and dangerous.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An AI assistant can confidently provide a completely incorrect answer, fabricate information, or follow instructions it should ignore, while still sounding convincing.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And when we embed these models into enterprise applications, or internal knowledge assistants, the impact becomes much larger.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The challenge is that many users naturally associate confidence with reliability. Yesterday, I explained about highschoolers who were developing a solution and said they “asked AI”. They did no verification beyond what the model fed them.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And you see, unlike traditional systems that fail visibly (like a windows error pop-up), LLMs can fail invisibly.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trike="sngStrike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trike="sngStrike">
                <a:solidFill>
                  <a:schemeClr val="dk1"/>
                </a:solidFill>
              </a:rPr>
              <a:t>So this behavior should change how we think about software quality, testing, and trust.</a:t>
            </a:r>
            <a:endParaRPr strike="sngStrike"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fb375bf1bb_1_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g3fb375bf1bb_1_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Like I said, foundation models are incredibly good at sounding intelligent.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That’s what makes them both powerful and dangerous.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An AI assistant can confidently provide a completely incorrect answer, fabricate information, or follow instructions it should ignore, while still sounding convincing.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And when we embed these models into enterprise applications, or internal knowledge assistants, the impact becomes much larger.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The challenge is that many users naturally associate confidence with reliability. Yesterday, I explained about highschoolers who were developing a solution and said they “asked AI”. They did no verification beyond what the model fed them.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And you see, unlike traditional systems that fail visibly (like a windows error pop-up), LLMs can fail invisibly.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trike="sngStrike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trike="sngStrike">
                <a:solidFill>
                  <a:schemeClr val="dk1"/>
                </a:solidFill>
              </a:rPr>
              <a:t>So this behavior should change how we think about software quality, testing, and trust.</a:t>
            </a:r>
            <a:endParaRPr strike="sngStrike"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fb375bf1bb_1_1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" name="Google Shape;149;g3fb375bf1bb_1_1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Like I said, foundation models are incredibly good at sounding intelligent.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That’s what makes them both powerful and dangerous.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An AI assistant can confidently provide a completely incorrect answer, fabricate information, or follow instructions it should ignore, while still sounding convincing.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And when we embed these models into enterprise applications, or internal knowledge assistants, the impact becomes much larger.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The challenge is that many users naturally associate confidence with reliability. Yesterday, I explained about highschoolers who were developing a solution and said they “asked AI”. They did no verification beyond what the model fed them.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And you see, unlike traditional systems that fail visibly (like a windows error pop-up), LLMs can fail invisibly.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trike="sngStrike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trike="sngStrike">
                <a:solidFill>
                  <a:schemeClr val="dk1"/>
                </a:solidFill>
              </a:rPr>
              <a:t>So this behavior should change how we think about software quality, testing, and trust.</a:t>
            </a:r>
            <a:endParaRPr strike="sngStrike"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510350" y="1268445"/>
            <a:ext cx="4487100" cy="149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510350" y="2666859"/>
            <a:ext cx="4487100" cy="792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974752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23850" lvl="0" marL="4572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, and image">
  <p:cSld name="TITLE_AND_BODY_1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974750"/>
            <a:ext cx="52188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23850" lvl="0" marL="4572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23" name="Google Shape;23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  <p:sp>
        <p:nvSpPr>
          <p:cNvPr id="26" name="Google Shape;26;p6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7" name="Google Shape;27;p6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8" name="Google Shape;28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4" name="Google Shape;34;p8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5" name="Google Shape;35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9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8" name="Google Shape;38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10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" name="Google Shape;41;p10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2" name="Google Shape;42;p10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3" name="Google Shape;43;p10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23850" lvl="0" marL="4572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44" name="Google Shape;44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1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50" name="Google Shape;50;p12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23850" lvl="0" marL="457200" algn="ctr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1pPr>
            <a:lvl2pPr indent="-298450" lvl="1" marL="91440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ctr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ctr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1" name="Google Shape;51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ottom Page 1">
  <p:cSld name="CUSTOM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ottom Page 2">
  <p:cSld name="CUSTOM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2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9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15" Type="http://schemas.openxmlformats.org/officeDocument/2006/relationships/slideLayout" Target="../slideLayouts/slideLayout14.xml"/><Relationship Id="rId14" Type="http://schemas.openxmlformats.org/officeDocument/2006/relationships/slideLayout" Target="../slideLayouts/slideLayout13.xml"/><Relationship Id="rId16" Type="http://schemas.openxmlformats.org/officeDocument/2006/relationships/theme" Target="../theme/theme2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None/>
              <a:defRPr b="1" sz="2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None/>
              <a:defRPr b="1" sz="2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None/>
              <a:defRPr b="1" sz="2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None/>
              <a:defRPr b="1" sz="2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None/>
              <a:defRPr b="1" sz="2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None/>
              <a:defRPr b="1" sz="2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None/>
              <a:defRPr b="1" sz="2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None/>
              <a:defRPr b="1" sz="2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None/>
              <a:defRPr b="1" sz="2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974752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23850" lvl="0" marL="45720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Poppins"/>
              <a:buChar char="●"/>
              <a:defRPr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-298450" lvl="1" marL="91440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Poppins"/>
              <a:buChar char="○"/>
              <a:defRPr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indent="-298450" lvl="2" marL="137160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Poppins"/>
              <a:buChar char="■"/>
              <a:defRPr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indent="-298450" lvl="3" marL="182880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Poppins"/>
              <a:buChar char="●"/>
              <a:defRPr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indent="-298450" lvl="4" marL="228600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Poppins"/>
              <a:buChar char="○"/>
              <a:defRPr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indent="-298450" lvl="5" marL="274320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Poppins"/>
              <a:buChar char="■"/>
              <a:defRPr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-298450" lvl="6" marL="320040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Poppins"/>
              <a:buChar char="●"/>
              <a:defRPr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-298450" lvl="7" marL="365760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Poppins"/>
              <a:buChar char="○"/>
              <a:defRPr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-298450" lvl="8" marL="411480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Poppins"/>
              <a:buChar char="■"/>
              <a:defRPr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0" r:id="rId14"/>
    <p:sldLayoutId id="2147483661" r:id="rId15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8.png"/><Relationship Id="rId4" Type="http://schemas.openxmlformats.org/officeDocument/2006/relationships/image" Target="../media/image5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Relationship Id="rId4" Type="http://schemas.openxmlformats.org/officeDocument/2006/relationships/image" Target="../media/image7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" name="Google Shape;60;p16" title="Generated Image September 12, 2026 - 9_35PM.jpg"/>
          <p:cNvPicPr preferRelativeResize="0"/>
          <p:nvPr/>
        </p:nvPicPr>
        <p:blipFill rotWithShape="1">
          <a:blip r:embed="rId3">
            <a:alphaModFix/>
          </a:blip>
          <a:srcRect b="20" l="0" r="0" t="20"/>
          <a:stretch/>
        </p:blipFill>
        <p:spPr>
          <a:xfrm>
            <a:off x="4572000" y="1929800"/>
            <a:ext cx="4260650" cy="2840425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Google Shape;61;p16"/>
          <p:cNvSpPr txBox="1"/>
          <p:nvPr>
            <p:ph idx="1" type="subTitle"/>
          </p:nvPr>
        </p:nvSpPr>
        <p:spPr>
          <a:xfrm>
            <a:off x="510350" y="3426750"/>
            <a:ext cx="4784100" cy="792600"/>
          </a:xfrm>
          <a:prstGeom prst="rect">
            <a:avLst/>
          </a:prstGeom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rmAutofit lnSpcReduction="20000"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Project 2 Submission</a:t>
            </a:r>
            <a:endParaRPr/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by Ime Inyang</a:t>
            </a:r>
            <a:endParaRPr/>
          </a:p>
        </p:txBody>
      </p:sp>
      <p:sp>
        <p:nvSpPr>
          <p:cNvPr id="62" name="Google Shape;62;p16"/>
          <p:cNvSpPr txBox="1"/>
          <p:nvPr>
            <p:ph type="ctrTitle"/>
          </p:nvPr>
        </p:nvSpPr>
        <p:spPr>
          <a:xfrm>
            <a:off x="510350" y="1510750"/>
            <a:ext cx="5469900" cy="1492500"/>
          </a:xfrm>
          <a:prstGeom prst="rect">
            <a:avLst/>
          </a:prstGeom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100"/>
              <a:t>FMN MDPR Intelligence</a:t>
            </a:r>
            <a:endParaRPr sz="4100"/>
          </a:p>
        </p:txBody>
      </p:sp>
      <p:pic>
        <p:nvPicPr>
          <p:cNvPr id="63" name="Google Shape;63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943600" y="279075"/>
            <a:ext cx="581525" cy="3269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7"/>
          <p:cNvSpPr txBox="1"/>
          <p:nvPr>
            <p:ph type="ctr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/>
              <a:t>The Problem</a:t>
            </a:r>
            <a:endParaRPr sz="2600"/>
          </a:p>
        </p:txBody>
      </p:sp>
      <p:sp>
        <p:nvSpPr>
          <p:cNvPr id="69" name="Google Shape;69;p17"/>
          <p:cNvSpPr txBox="1"/>
          <p:nvPr/>
        </p:nvSpPr>
        <p:spPr>
          <a:xfrm>
            <a:off x="311700" y="1123525"/>
            <a:ext cx="7990500" cy="347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900">
                <a:latin typeface="Poppins"/>
                <a:ea typeface="Poppins"/>
                <a:cs typeface="Poppins"/>
                <a:sym typeface="Poppins"/>
              </a:rPr>
              <a:t>A machine rarely fails without warning.</a:t>
            </a:r>
            <a:endParaRPr i="1" sz="19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i="1" lang="en" sz="1900">
                <a:latin typeface="Poppins"/>
                <a:ea typeface="Poppins"/>
                <a:cs typeface="Poppins"/>
                <a:sym typeface="Poppins"/>
              </a:rPr>
              <a:t>The problem is seeing the warning early enough to act.</a:t>
            </a:r>
            <a:endParaRPr i="1" sz="1900"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70" name="Google Shape;70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4700" y="4660575"/>
            <a:ext cx="581525" cy="32697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71" name="Google Shape;71;p17"/>
          <p:cNvGrpSpPr/>
          <p:nvPr/>
        </p:nvGrpSpPr>
        <p:grpSpPr>
          <a:xfrm>
            <a:off x="1053200" y="2084224"/>
            <a:ext cx="3168321" cy="2667029"/>
            <a:chOff x="777675" y="2074790"/>
            <a:chExt cx="1892100" cy="2037300"/>
          </a:xfrm>
        </p:grpSpPr>
        <p:sp>
          <p:nvSpPr>
            <p:cNvPr id="72" name="Google Shape;72;p17"/>
            <p:cNvSpPr/>
            <p:nvPr/>
          </p:nvSpPr>
          <p:spPr>
            <a:xfrm>
              <a:off x="777675" y="2074790"/>
              <a:ext cx="1892100" cy="20373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 cap="flat" cmpd="sng" w="13300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79780" rotWithShape="0" algn="bl" dir="5400000" dist="26593">
                <a:srgbClr val="FF0000">
                  <a:alpha val="50000"/>
                </a:srgbClr>
              </a:outerShdw>
            </a:effectLst>
          </p:spPr>
          <p:txBody>
            <a:bodyPr anchorCtr="0" anchor="ctr" bIns="127625" lIns="127625" spcFirstLastPara="1" rIns="127625" wrap="square" tIns="1276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54"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73" name="Google Shape;73;p17"/>
            <p:cNvSpPr txBox="1"/>
            <p:nvPr/>
          </p:nvSpPr>
          <p:spPr>
            <a:xfrm>
              <a:off x="809476" y="2218649"/>
              <a:ext cx="1828500" cy="249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27625" lIns="127625" spcFirstLastPara="1" rIns="127625" wrap="square" tIns="1276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31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rPr>
                <a:t>TODAY</a:t>
              </a:r>
              <a:endParaRPr b="1" sz="1315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74" name="Google Shape;74;p17"/>
            <p:cNvSpPr txBox="1"/>
            <p:nvPr/>
          </p:nvSpPr>
          <p:spPr>
            <a:xfrm>
              <a:off x="809476" y="2522613"/>
              <a:ext cx="1828500" cy="1438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27625" lIns="127625" spcFirstLastPara="1" rIns="127625" wrap="square" tIns="1276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7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rPr>
                <a:t>🔴 </a:t>
              </a:r>
              <a:r>
                <a:rPr b="1" lang="en" sz="107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rPr>
                <a:t>BREAKDOWN</a:t>
              </a:r>
              <a:endParaRPr b="1" sz="1075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7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rPr>
                <a:t>Production stops → lost output → emergency repairs</a:t>
              </a:r>
              <a:endParaRPr sz="1075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075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7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rPr>
                <a:t>🟡 </a:t>
              </a:r>
              <a:r>
                <a:rPr b="1" lang="en" sz="107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rPr>
                <a:t>REACTIVE MAINTENANCE</a:t>
              </a:r>
              <a:endParaRPr b="1" sz="1075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7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rPr>
                <a:t>Technicians respond after the problem becomes obvious</a:t>
              </a:r>
              <a:endParaRPr sz="1075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075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7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rPr>
                <a:t>⚪ </a:t>
              </a:r>
              <a:r>
                <a:rPr b="1" lang="en" sz="107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rPr>
                <a:t>OPAQUE ALARMS</a:t>
              </a:r>
              <a:endParaRPr b="1" sz="1075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7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rPr>
                <a:t>Lots of sensor data, but little explanation of </a:t>
              </a:r>
              <a:r>
                <a:rPr i="1" lang="en" sz="107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rPr>
                <a:t>what needs attention and why</a:t>
              </a:r>
              <a:endParaRPr i="1" sz="1075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75" name="Google Shape;75;p17"/>
          <p:cNvGrpSpPr/>
          <p:nvPr/>
        </p:nvGrpSpPr>
        <p:grpSpPr>
          <a:xfrm>
            <a:off x="4774425" y="2084224"/>
            <a:ext cx="3168321" cy="2667029"/>
            <a:chOff x="777675" y="2074790"/>
            <a:chExt cx="1892100" cy="2037300"/>
          </a:xfrm>
        </p:grpSpPr>
        <p:sp>
          <p:nvSpPr>
            <p:cNvPr id="76" name="Google Shape;76;p17"/>
            <p:cNvSpPr/>
            <p:nvPr/>
          </p:nvSpPr>
          <p:spPr>
            <a:xfrm>
              <a:off x="777675" y="2074790"/>
              <a:ext cx="1892100" cy="20373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 cap="flat" cmpd="sng" w="13300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79780" rotWithShape="0" algn="bl" dir="5400000" dist="26593">
                <a:srgbClr val="FF0000">
                  <a:alpha val="50000"/>
                </a:srgbClr>
              </a:outerShdw>
            </a:effectLst>
          </p:spPr>
          <p:txBody>
            <a:bodyPr anchorCtr="0" anchor="ctr" bIns="127625" lIns="127625" spcFirstLastPara="1" rIns="127625" wrap="square" tIns="1276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54"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77" name="Google Shape;77;p17"/>
            <p:cNvSpPr txBox="1"/>
            <p:nvPr/>
          </p:nvSpPr>
          <p:spPr>
            <a:xfrm>
              <a:off x="809476" y="2218649"/>
              <a:ext cx="1828500" cy="249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27625" lIns="127625" spcFirstLastPara="1" rIns="127625" wrap="square" tIns="1276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31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rPr>
                <a:t>The gap</a:t>
              </a:r>
              <a:endParaRPr b="1" sz="1315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78" name="Google Shape;78;p17"/>
            <p:cNvSpPr txBox="1"/>
            <p:nvPr/>
          </p:nvSpPr>
          <p:spPr>
            <a:xfrm>
              <a:off x="809476" y="2522613"/>
              <a:ext cx="1828500" cy="1438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27625" lIns="127625" spcFirstLastPara="1" rIns="127625" wrap="square" tIns="1276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7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rPr>
                <a:t>Which machines are degrading right now — and which ones need attention first?</a:t>
              </a:r>
              <a:endParaRPr b="1" i="1" sz="1075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8"/>
          <p:cNvSpPr txBox="1"/>
          <p:nvPr>
            <p:ph type="ctr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/>
              <a:t>MDPR Intelligent Dashboard</a:t>
            </a:r>
            <a:endParaRPr sz="2600"/>
          </a:p>
        </p:txBody>
      </p:sp>
      <p:sp>
        <p:nvSpPr>
          <p:cNvPr id="84" name="Google Shape;84;p18"/>
          <p:cNvSpPr txBox="1"/>
          <p:nvPr/>
        </p:nvSpPr>
        <p:spPr>
          <a:xfrm>
            <a:off x="311700" y="1123518"/>
            <a:ext cx="6177600" cy="347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900">
                <a:latin typeface="Poppins"/>
                <a:ea typeface="Poppins"/>
                <a:cs typeface="Poppins"/>
                <a:sym typeface="Poppins"/>
              </a:rPr>
              <a:t>Turning telemetry into an early warning system</a:t>
            </a:r>
            <a:endParaRPr sz="19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5" name="Google Shape;85;p18"/>
          <p:cNvSpPr txBox="1"/>
          <p:nvPr/>
        </p:nvSpPr>
        <p:spPr>
          <a:xfrm>
            <a:off x="1285119" y="4389075"/>
            <a:ext cx="6327900" cy="4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The goal isn't more sensor data. It's earlier decisions.</a:t>
            </a:r>
            <a:endParaRPr b="1" sz="15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86" name="Google Shape;86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4700" y="4660575"/>
            <a:ext cx="581525" cy="326976"/>
          </a:xfrm>
          <a:prstGeom prst="rect">
            <a:avLst/>
          </a:prstGeom>
          <a:noFill/>
          <a:ln>
            <a:noFill/>
          </a:ln>
        </p:spPr>
      </p:pic>
      <p:pic>
        <p:nvPicPr>
          <p:cNvPr id="87" name="Google Shape;87;p18" title="ChatGPT Image Sep 12, 2026, 10_00_30 PM.png"/>
          <p:cNvPicPr preferRelativeResize="0"/>
          <p:nvPr/>
        </p:nvPicPr>
        <p:blipFill rotWithShape="1">
          <a:blip r:embed="rId4">
            <a:alphaModFix/>
          </a:blip>
          <a:srcRect b="29566" l="0" r="0" t="17026"/>
          <a:stretch/>
        </p:blipFill>
        <p:spPr>
          <a:xfrm>
            <a:off x="491738" y="1677972"/>
            <a:ext cx="8160526" cy="245293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9"/>
          <p:cNvSpPr txBox="1"/>
          <p:nvPr>
            <p:ph type="ctr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/>
              <a:t>What Does "Degrading" Actually Look Like?</a:t>
            </a:r>
            <a:endParaRPr sz="2600"/>
          </a:p>
        </p:txBody>
      </p:sp>
      <p:sp>
        <p:nvSpPr>
          <p:cNvPr id="93" name="Google Shape;93;p19"/>
          <p:cNvSpPr txBox="1"/>
          <p:nvPr/>
        </p:nvSpPr>
        <p:spPr>
          <a:xfrm>
            <a:off x="311700" y="1123525"/>
            <a:ext cx="8146800" cy="347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900">
                <a:latin typeface="Poppins"/>
                <a:ea typeface="Poppins"/>
                <a:cs typeface="Poppins"/>
                <a:sym typeface="Poppins"/>
              </a:rPr>
              <a:t>Not high readings, but change.</a:t>
            </a:r>
            <a:endParaRPr sz="19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94" name="Google Shape;94;p19"/>
          <p:cNvSpPr txBox="1"/>
          <p:nvPr/>
        </p:nvSpPr>
        <p:spPr>
          <a:xfrm>
            <a:off x="897226" y="4389075"/>
            <a:ext cx="7103700" cy="4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 single reading may look normal.</a:t>
            </a:r>
            <a:r>
              <a:rPr b="1"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The trend tells a different story.</a:t>
            </a:r>
            <a:endParaRPr b="1" sz="15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95" name="Google Shape;95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4700" y="4660575"/>
            <a:ext cx="581525" cy="326976"/>
          </a:xfrm>
          <a:prstGeom prst="rect">
            <a:avLst/>
          </a:prstGeom>
          <a:noFill/>
          <a:ln>
            <a:noFill/>
          </a:ln>
        </p:spPr>
      </p:pic>
      <p:pic>
        <p:nvPicPr>
          <p:cNvPr id="96" name="Google Shape;96;p19" title="ChatGPT Image Sep 12, 2026, 10_05_30 PM.png"/>
          <p:cNvPicPr preferRelativeResize="0"/>
          <p:nvPr/>
        </p:nvPicPr>
        <p:blipFill rotWithShape="1">
          <a:blip r:embed="rId4">
            <a:alphaModFix/>
          </a:blip>
          <a:srcRect b="5079" l="0" r="0" t="20456"/>
          <a:stretch/>
        </p:blipFill>
        <p:spPr>
          <a:xfrm>
            <a:off x="1028182" y="1537654"/>
            <a:ext cx="6841780" cy="28692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1" name="Google Shape;101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4700" y="4660575"/>
            <a:ext cx="581525" cy="326976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20"/>
          <p:cNvSpPr txBox="1"/>
          <p:nvPr>
            <p:ph type="ctr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/>
              <a:t>Why HistGradientBoosting?</a:t>
            </a:r>
            <a:endParaRPr sz="2600"/>
          </a:p>
        </p:txBody>
      </p:sp>
      <p:sp>
        <p:nvSpPr>
          <p:cNvPr id="103" name="Google Shape;103;p20"/>
          <p:cNvSpPr txBox="1"/>
          <p:nvPr/>
        </p:nvSpPr>
        <p:spPr>
          <a:xfrm>
            <a:off x="311700" y="1123525"/>
            <a:ext cx="8146800" cy="347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900">
                <a:latin typeface="Poppins"/>
                <a:ea typeface="Poppins"/>
                <a:cs typeface="Poppins"/>
                <a:sym typeface="Poppins"/>
              </a:rPr>
              <a:t>For maintenance, missing a failure is worse than raising a false alarm.</a:t>
            </a:r>
            <a:endParaRPr sz="1100">
              <a:latin typeface="Poppins"/>
              <a:ea typeface="Poppins"/>
              <a:cs typeface="Poppins"/>
              <a:sym typeface="Poppins"/>
            </a:endParaRPr>
          </a:p>
        </p:txBody>
      </p:sp>
      <p:graphicFrame>
        <p:nvGraphicFramePr>
          <p:cNvPr id="104" name="Google Shape;104;p20"/>
          <p:cNvGraphicFramePr/>
          <p:nvPr/>
        </p:nvGraphicFramePr>
        <p:xfrm>
          <a:off x="2029713" y="17177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{23914065-8745-4373-A671-5997EFD5C260}</a:tableStyleId>
              </a:tblPr>
              <a:tblGrid>
                <a:gridCol w="3563925"/>
                <a:gridCol w="1046625"/>
                <a:gridCol w="755525"/>
              </a:tblGrid>
              <a:tr h="4499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Model </a:t>
                      </a:r>
                      <a:endParaRPr b="1" sz="1200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Precision</a:t>
                      </a:r>
                      <a:endParaRPr b="1" sz="1200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Recal</a:t>
                      </a:r>
                      <a:endParaRPr b="1" sz="1200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/>
                </a:tc>
              </a:tr>
              <a:tr h="404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Random Forest</a:t>
                      </a:r>
                      <a:endParaRPr sz="1200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50%</a:t>
                      </a:r>
                      <a:endParaRPr sz="1200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3</a:t>
                      </a:r>
                      <a:r>
                        <a:rPr lang="en" sz="1200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3.3%</a:t>
                      </a:r>
                      <a:endParaRPr sz="1200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/>
                </a:tc>
              </a:tr>
              <a:tr h="429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Isolation Forest</a:t>
                      </a:r>
                      <a:endParaRPr sz="1200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1.5%</a:t>
                      </a:r>
                      <a:endParaRPr sz="1200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33.3%</a:t>
                      </a:r>
                      <a:endParaRPr sz="1200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/>
                </a:tc>
              </a:tr>
              <a:tr h="4499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PCA</a:t>
                      </a:r>
                      <a:endParaRPr sz="1200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1.2%</a:t>
                      </a:r>
                      <a:endParaRPr sz="1200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33.3%</a:t>
                      </a:r>
                      <a:endParaRPr sz="1200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/>
                </a:tc>
              </a:tr>
              <a:tr h="4499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HistGradientBoosting</a:t>
                      </a:r>
                      <a:r>
                        <a:rPr b="1" lang="en" sz="1200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✓</a:t>
                      </a:r>
                      <a:endParaRPr b="1" sz="1200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30%</a:t>
                      </a:r>
                      <a:endParaRPr b="1" sz="1200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100%</a:t>
                      </a:r>
                      <a:endParaRPr b="1" sz="1200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grpSp>
        <p:nvGrpSpPr>
          <p:cNvPr id="105" name="Google Shape;105;p20"/>
          <p:cNvGrpSpPr/>
          <p:nvPr/>
        </p:nvGrpSpPr>
        <p:grpSpPr>
          <a:xfrm>
            <a:off x="411778" y="3741422"/>
            <a:ext cx="2269574" cy="999290"/>
            <a:chOff x="777675" y="2074782"/>
            <a:chExt cx="1892100" cy="2155500"/>
          </a:xfrm>
        </p:grpSpPr>
        <p:sp>
          <p:nvSpPr>
            <p:cNvPr id="106" name="Google Shape;106;p20"/>
            <p:cNvSpPr/>
            <p:nvPr/>
          </p:nvSpPr>
          <p:spPr>
            <a:xfrm>
              <a:off x="777675" y="2074782"/>
              <a:ext cx="1892100" cy="21555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57150" rotWithShape="0" algn="bl" dir="5400000" dist="19050">
                <a:srgbClr val="FFFF00">
                  <a:alpha val="50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07" name="Google Shape;107;p20"/>
            <p:cNvSpPr txBox="1"/>
            <p:nvPr/>
          </p:nvSpPr>
          <p:spPr>
            <a:xfrm>
              <a:off x="809475" y="2243325"/>
              <a:ext cx="1828500" cy="405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300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rPr>
                <a:t>100% Recall</a:t>
              </a:r>
              <a:endParaRPr b="1" sz="13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08" name="Google Shape;108;p20"/>
            <p:cNvSpPr txBox="1"/>
            <p:nvPr/>
          </p:nvSpPr>
          <p:spPr>
            <a:xfrm>
              <a:off x="809473" y="2950026"/>
              <a:ext cx="1828500" cy="802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rPr>
                <a:t>Every failure in the evaluation window was detected.</a:t>
              </a:r>
              <a:endParaRPr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109" name="Google Shape;109;p20"/>
          <p:cNvGrpSpPr/>
          <p:nvPr/>
        </p:nvGrpSpPr>
        <p:grpSpPr>
          <a:xfrm>
            <a:off x="3251244" y="3741422"/>
            <a:ext cx="2597853" cy="999290"/>
            <a:chOff x="777675" y="2074782"/>
            <a:chExt cx="1892100" cy="2155500"/>
          </a:xfrm>
        </p:grpSpPr>
        <p:sp>
          <p:nvSpPr>
            <p:cNvPr id="110" name="Google Shape;110;p20"/>
            <p:cNvSpPr/>
            <p:nvPr/>
          </p:nvSpPr>
          <p:spPr>
            <a:xfrm>
              <a:off x="777675" y="2074782"/>
              <a:ext cx="1892100" cy="21555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57150" rotWithShape="0" algn="bl" dir="5400000" dist="19050">
                <a:srgbClr val="00FF00">
                  <a:alpha val="50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11" name="Google Shape;111;p20"/>
            <p:cNvSpPr txBox="1"/>
            <p:nvPr/>
          </p:nvSpPr>
          <p:spPr>
            <a:xfrm>
              <a:off x="809478" y="2074813"/>
              <a:ext cx="1828500" cy="802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300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rPr>
                <a:t>Decision threshold</a:t>
              </a:r>
              <a:endParaRPr b="1" sz="13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12" name="Google Shape;112;p20"/>
            <p:cNvSpPr txBox="1"/>
            <p:nvPr/>
          </p:nvSpPr>
          <p:spPr>
            <a:xfrm>
              <a:off x="809471" y="2721951"/>
              <a:ext cx="1828500" cy="1235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rPr>
                <a:t>0.80 failure probability</a:t>
              </a:r>
              <a:endParaRPr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113" name="Google Shape;113;p20"/>
          <p:cNvGrpSpPr/>
          <p:nvPr/>
        </p:nvGrpSpPr>
        <p:grpSpPr>
          <a:xfrm>
            <a:off x="6487702" y="3741422"/>
            <a:ext cx="2269574" cy="999290"/>
            <a:chOff x="777675" y="2074782"/>
            <a:chExt cx="1892100" cy="2155500"/>
          </a:xfrm>
        </p:grpSpPr>
        <p:sp>
          <p:nvSpPr>
            <p:cNvPr id="114" name="Google Shape;114;p20"/>
            <p:cNvSpPr/>
            <p:nvPr/>
          </p:nvSpPr>
          <p:spPr>
            <a:xfrm>
              <a:off x="777675" y="2074782"/>
              <a:ext cx="1892100" cy="21555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57150" rotWithShape="0" algn="bl" dir="5400000" dist="19050">
                <a:srgbClr val="FF0000">
                  <a:alpha val="50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15" name="Google Shape;115;p20"/>
            <p:cNvSpPr txBox="1"/>
            <p:nvPr/>
          </p:nvSpPr>
          <p:spPr>
            <a:xfrm>
              <a:off x="809478" y="2074786"/>
              <a:ext cx="1828500" cy="2068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rPr>
                <a:t>→ preserves </a:t>
              </a:r>
              <a:r>
                <a:rPr b="1" lang="en" sz="1000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rPr>
                <a:t>100% recall</a:t>
              </a:r>
              <a:endParaRPr b="1" sz="1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rPr>
                <a:t>→ reduces unnecessary alerts compared with a lower-confidence operating strategy</a:t>
              </a:r>
              <a:endParaRPr sz="1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1"/>
          <p:cNvSpPr txBox="1"/>
          <p:nvPr>
            <p:ph type="ctr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/>
              <a:t>From Red Flags To Relevant Explanations</a:t>
            </a:r>
            <a:endParaRPr sz="2600"/>
          </a:p>
        </p:txBody>
      </p:sp>
      <p:sp>
        <p:nvSpPr>
          <p:cNvPr id="121" name="Google Shape;121;p21"/>
          <p:cNvSpPr txBox="1"/>
          <p:nvPr/>
        </p:nvSpPr>
        <p:spPr>
          <a:xfrm>
            <a:off x="311700" y="1123525"/>
            <a:ext cx="8146800" cy="347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900">
                <a:latin typeface="Poppins"/>
                <a:ea typeface="Poppins"/>
                <a:cs typeface="Poppins"/>
                <a:sym typeface="Poppins"/>
              </a:rPr>
              <a:t>AI explains the risk</a:t>
            </a:r>
            <a:endParaRPr sz="11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22" name="Google Shape;122;p21"/>
          <p:cNvSpPr txBox="1"/>
          <p:nvPr/>
        </p:nvSpPr>
        <p:spPr>
          <a:xfrm>
            <a:off x="662050" y="4389075"/>
            <a:ext cx="7574100" cy="4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ML predicts the risk. Rules recommend the action. LLM explains the evidence.</a:t>
            </a:r>
            <a:endParaRPr b="1" sz="15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23" name="Google Shape;123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4700" y="4660575"/>
            <a:ext cx="581525" cy="3269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24" name="Google Shape;124;p21" title="ChatGPT Image Sep 12, 2026, 10_11_31 PM.png"/>
          <p:cNvPicPr preferRelativeResize="0"/>
          <p:nvPr/>
        </p:nvPicPr>
        <p:blipFill rotWithShape="1">
          <a:blip r:embed="rId4">
            <a:alphaModFix/>
          </a:blip>
          <a:srcRect b="26780" l="0" r="0" t="8658"/>
          <a:stretch/>
        </p:blipFill>
        <p:spPr>
          <a:xfrm>
            <a:off x="562063" y="1742200"/>
            <a:ext cx="8019877" cy="25889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2"/>
          <p:cNvSpPr txBox="1"/>
          <p:nvPr/>
        </p:nvSpPr>
        <p:spPr>
          <a:xfrm>
            <a:off x="311700" y="1123525"/>
            <a:ext cx="8146800" cy="347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900">
                <a:latin typeface="Poppins"/>
                <a:ea typeface="Poppins"/>
                <a:cs typeface="Poppins"/>
                <a:sym typeface="Poppins"/>
              </a:rPr>
              <a:t>From 17 machines to one prioritized view</a:t>
            </a:r>
            <a:endParaRPr sz="11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30" name="Google Shape;130;p22"/>
          <p:cNvSpPr txBox="1"/>
          <p:nvPr>
            <p:ph type="ctr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/>
              <a:t>Plant Engineer's View</a:t>
            </a:r>
            <a:endParaRPr sz="2600"/>
          </a:p>
        </p:txBody>
      </p:sp>
      <p:pic>
        <p:nvPicPr>
          <p:cNvPr id="131" name="Google Shape;131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7700" y="2062075"/>
            <a:ext cx="3812224" cy="159570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348544" y="1513112"/>
            <a:ext cx="2992332" cy="181526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33" name="Google Shape;133;p22"/>
          <p:cNvGrpSpPr/>
          <p:nvPr/>
        </p:nvGrpSpPr>
        <p:grpSpPr>
          <a:xfrm>
            <a:off x="7342350" y="2422600"/>
            <a:ext cx="1746800" cy="517500"/>
            <a:chOff x="2446325" y="3383400"/>
            <a:chExt cx="1746800" cy="517500"/>
          </a:xfrm>
        </p:grpSpPr>
        <p:cxnSp>
          <p:nvCxnSpPr>
            <p:cNvPr id="134" name="Google Shape;134;p22"/>
            <p:cNvCxnSpPr/>
            <p:nvPr/>
          </p:nvCxnSpPr>
          <p:spPr>
            <a:xfrm flipH="1">
              <a:off x="2446325" y="3673200"/>
              <a:ext cx="859200" cy="227700"/>
            </a:xfrm>
            <a:prstGeom prst="straightConnector1">
              <a:avLst/>
            </a:prstGeom>
            <a:noFill/>
            <a:ln cap="flat" cmpd="sng" w="9525">
              <a:solidFill>
                <a:srgbClr val="FF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135" name="Google Shape;135;p22"/>
            <p:cNvSpPr txBox="1"/>
            <p:nvPr/>
          </p:nvSpPr>
          <p:spPr>
            <a:xfrm>
              <a:off x="3054325" y="3383400"/>
              <a:ext cx="1138800" cy="289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900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rPr>
                <a:t>③ Understand</a:t>
              </a:r>
              <a:endParaRPr b="1" sz="9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pic>
        <p:nvPicPr>
          <p:cNvPr id="136" name="Google Shape;136;p2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24700" y="4660575"/>
            <a:ext cx="581525" cy="3269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37" name="Google Shape;137;p22"/>
          <p:cNvPicPr preferRelativeResize="0"/>
          <p:nvPr/>
        </p:nvPicPr>
        <p:blipFill rotWithShape="1">
          <a:blip r:embed="rId6">
            <a:alphaModFix/>
          </a:blip>
          <a:srcRect b="17390" l="0" r="0" t="0"/>
          <a:stretch/>
        </p:blipFill>
        <p:spPr>
          <a:xfrm>
            <a:off x="4772925" y="3376375"/>
            <a:ext cx="3567951" cy="144487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38" name="Google Shape;138;p22"/>
          <p:cNvGrpSpPr/>
          <p:nvPr/>
        </p:nvGrpSpPr>
        <p:grpSpPr>
          <a:xfrm>
            <a:off x="7643100" y="3796388"/>
            <a:ext cx="868800" cy="799938"/>
            <a:chOff x="7749925" y="3796388"/>
            <a:chExt cx="868800" cy="799938"/>
          </a:xfrm>
        </p:grpSpPr>
        <p:sp>
          <p:nvSpPr>
            <p:cNvPr id="139" name="Google Shape;139;p22"/>
            <p:cNvSpPr txBox="1"/>
            <p:nvPr/>
          </p:nvSpPr>
          <p:spPr>
            <a:xfrm>
              <a:off x="7864525" y="4306525"/>
              <a:ext cx="754200" cy="289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900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rPr>
                <a:t>④ Ask</a:t>
              </a:r>
              <a:endParaRPr b="1" sz="9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cxnSp>
          <p:nvCxnSpPr>
            <p:cNvPr id="140" name="Google Shape;140;p22"/>
            <p:cNvCxnSpPr/>
            <p:nvPr/>
          </p:nvCxnSpPr>
          <p:spPr>
            <a:xfrm rot="10800000">
              <a:off x="7749925" y="3796388"/>
              <a:ext cx="451800" cy="550500"/>
            </a:xfrm>
            <a:prstGeom prst="straightConnector1">
              <a:avLst/>
            </a:prstGeom>
            <a:noFill/>
            <a:ln cap="flat" cmpd="sng" w="9525">
              <a:solidFill>
                <a:srgbClr val="FF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  <p:grpSp>
        <p:nvGrpSpPr>
          <p:cNvPr id="141" name="Google Shape;141;p22"/>
          <p:cNvGrpSpPr/>
          <p:nvPr/>
        </p:nvGrpSpPr>
        <p:grpSpPr>
          <a:xfrm>
            <a:off x="4418950" y="2346650"/>
            <a:ext cx="1232875" cy="370000"/>
            <a:chOff x="215275" y="3058800"/>
            <a:chExt cx="1232875" cy="370000"/>
          </a:xfrm>
        </p:grpSpPr>
        <p:sp>
          <p:nvSpPr>
            <p:cNvPr id="142" name="Google Shape;142;p22"/>
            <p:cNvSpPr txBox="1"/>
            <p:nvPr/>
          </p:nvSpPr>
          <p:spPr>
            <a:xfrm>
              <a:off x="215275" y="3139000"/>
              <a:ext cx="1138800" cy="289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900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rPr>
                <a:t>② Investigate</a:t>
              </a:r>
              <a:endParaRPr b="1" sz="9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cxnSp>
          <p:nvCxnSpPr>
            <p:cNvPr id="143" name="Google Shape;143;p22"/>
            <p:cNvCxnSpPr/>
            <p:nvPr/>
          </p:nvCxnSpPr>
          <p:spPr>
            <a:xfrm flipH="1" rot="10800000">
              <a:off x="985250" y="3058800"/>
              <a:ext cx="462900" cy="134400"/>
            </a:xfrm>
            <a:prstGeom prst="straightConnector1">
              <a:avLst/>
            </a:prstGeom>
            <a:noFill/>
            <a:ln cap="flat" cmpd="sng" w="9525">
              <a:solidFill>
                <a:srgbClr val="FF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  <p:grpSp>
        <p:nvGrpSpPr>
          <p:cNvPr id="144" name="Google Shape;144;p22"/>
          <p:cNvGrpSpPr/>
          <p:nvPr/>
        </p:nvGrpSpPr>
        <p:grpSpPr>
          <a:xfrm>
            <a:off x="126794" y="2281950"/>
            <a:ext cx="1510200" cy="289800"/>
            <a:chOff x="7693500" y="4306525"/>
            <a:chExt cx="1510200" cy="289800"/>
          </a:xfrm>
        </p:grpSpPr>
        <p:sp>
          <p:nvSpPr>
            <p:cNvPr id="145" name="Google Shape;145;p22"/>
            <p:cNvSpPr txBox="1"/>
            <p:nvPr/>
          </p:nvSpPr>
          <p:spPr>
            <a:xfrm>
              <a:off x="7693500" y="4306525"/>
              <a:ext cx="1138800" cy="289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900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rPr>
                <a:t>① Prioritize</a:t>
              </a:r>
              <a:endParaRPr b="1" sz="9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cxnSp>
          <p:nvCxnSpPr>
            <p:cNvPr id="146" name="Google Shape;146;p22"/>
            <p:cNvCxnSpPr/>
            <p:nvPr/>
          </p:nvCxnSpPr>
          <p:spPr>
            <a:xfrm>
              <a:off x="8595600" y="4497100"/>
              <a:ext cx="608100" cy="89700"/>
            </a:xfrm>
            <a:prstGeom prst="straightConnector1">
              <a:avLst/>
            </a:prstGeom>
            <a:noFill/>
            <a:ln cap="flat" cmpd="sng" w="9525">
              <a:solidFill>
                <a:srgbClr val="FF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3"/>
          <p:cNvSpPr txBox="1"/>
          <p:nvPr>
            <p:ph type="ctr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/>
              <a:t>Next Steps</a:t>
            </a:r>
            <a:endParaRPr sz="2600"/>
          </a:p>
        </p:txBody>
      </p:sp>
      <p:pic>
        <p:nvPicPr>
          <p:cNvPr id="152" name="Google Shape;152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4700" y="4660575"/>
            <a:ext cx="581525" cy="32697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53" name="Google Shape;153;p23"/>
          <p:cNvGrpSpPr/>
          <p:nvPr/>
        </p:nvGrpSpPr>
        <p:grpSpPr>
          <a:xfrm>
            <a:off x="806210" y="1186617"/>
            <a:ext cx="5315098" cy="1287696"/>
            <a:chOff x="777675" y="2074782"/>
            <a:chExt cx="1892100" cy="2155500"/>
          </a:xfrm>
        </p:grpSpPr>
        <p:sp>
          <p:nvSpPr>
            <p:cNvPr id="154" name="Google Shape;154;p23"/>
            <p:cNvSpPr/>
            <p:nvPr/>
          </p:nvSpPr>
          <p:spPr>
            <a:xfrm>
              <a:off x="777675" y="2074782"/>
              <a:ext cx="1892100" cy="21555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 cap="flat" cmpd="sng" w="1227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73645" rotWithShape="0" algn="bl" dir="5400000" dist="24548">
                <a:srgbClr val="00FF00">
                  <a:alpha val="50000"/>
                </a:srgbClr>
              </a:outerShdw>
            </a:effectLst>
          </p:spPr>
          <p:txBody>
            <a:bodyPr anchorCtr="0" anchor="ctr" bIns="117825" lIns="117825" spcFirstLastPara="1" rIns="117825" wrap="square" tIns="1178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4"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55" name="Google Shape;155;p23"/>
            <p:cNvSpPr txBox="1"/>
            <p:nvPr/>
          </p:nvSpPr>
          <p:spPr>
            <a:xfrm>
              <a:off x="809478" y="2074813"/>
              <a:ext cx="1828500" cy="802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17825" lIns="117825" spcFirstLastPara="1" rIns="117825" wrap="square" tIns="1178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569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rPr>
                <a:t>More failure data</a:t>
              </a:r>
              <a:endParaRPr b="1" sz="1569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56" name="Google Shape;156;p23"/>
            <p:cNvSpPr txBox="1"/>
            <p:nvPr/>
          </p:nvSpPr>
          <p:spPr>
            <a:xfrm>
              <a:off x="809471" y="2721951"/>
              <a:ext cx="1828500" cy="1235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17825" lIns="117825" spcFirstLastPara="1" rIns="117825" wrap="square" tIns="1178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26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rPr>
                <a:t>collect more run-to-failure data or investigate realistic synthetic failure sequences to improve </a:t>
              </a:r>
              <a:r>
                <a:rPr b="1" lang="en" sz="1226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rPr>
                <a:t>precision without sacrificing recall.</a:t>
              </a:r>
              <a:endParaRPr b="1" sz="1226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157" name="Google Shape;157;p23"/>
          <p:cNvGrpSpPr/>
          <p:nvPr/>
        </p:nvGrpSpPr>
        <p:grpSpPr>
          <a:xfrm>
            <a:off x="806210" y="3017242"/>
            <a:ext cx="5315098" cy="1287696"/>
            <a:chOff x="777675" y="2074782"/>
            <a:chExt cx="1892100" cy="2155500"/>
          </a:xfrm>
        </p:grpSpPr>
        <p:sp>
          <p:nvSpPr>
            <p:cNvPr id="158" name="Google Shape;158;p23"/>
            <p:cNvSpPr/>
            <p:nvPr/>
          </p:nvSpPr>
          <p:spPr>
            <a:xfrm>
              <a:off x="777675" y="2074782"/>
              <a:ext cx="1892100" cy="21555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 cap="flat" cmpd="sng" w="1227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73645" rotWithShape="0" algn="bl" dir="5400000" dist="24548">
                <a:srgbClr val="00FF00">
                  <a:alpha val="50000"/>
                </a:srgbClr>
              </a:outerShdw>
            </a:effectLst>
          </p:spPr>
          <p:txBody>
            <a:bodyPr anchorCtr="0" anchor="ctr" bIns="117825" lIns="117825" spcFirstLastPara="1" rIns="117825" wrap="square" tIns="1178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4"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59" name="Google Shape;159;p23"/>
            <p:cNvSpPr txBox="1"/>
            <p:nvPr/>
          </p:nvSpPr>
          <p:spPr>
            <a:xfrm>
              <a:off x="809479" y="2074795"/>
              <a:ext cx="1828500" cy="774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17825" lIns="117825" spcFirstLastPara="1" rIns="117825" wrap="square" tIns="1178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569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rPr>
                <a:t>Smarter data access</a:t>
              </a:r>
              <a:endParaRPr b="1" sz="1569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60" name="Google Shape;160;p23"/>
            <p:cNvSpPr txBox="1"/>
            <p:nvPr/>
          </p:nvSpPr>
          <p:spPr>
            <a:xfrm>
              <a:off x="809471" y="2721951"/>
              <a:ext cx="1828500" cy="1235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17825" lIns="117825" spcFirstLastPara="1" rIns="117825" wrap="square" tIns="1178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26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rPr>
                <a:t>give LLM controlled access to telemetry through SQL/vector queries so it can answer questions about specific </a:t>
              </a:r>
              <a:r>
                <a:rPr b="1" lang="en" sz="1226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rPr>
                <a:t>machines, shifts and anomaly intervals</a:t>
              </a:r>
              <a:r>
                <a:rPr lang="en" sz="1226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rPr>
                <a:t> on demand.</a:t>
              </a:r>
              <a:endParaRPr b="1" sz="1226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XTL Training Standard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